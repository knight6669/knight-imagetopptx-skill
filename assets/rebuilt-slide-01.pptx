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502384" cy="90708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_decor_sky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816" y="0"/>
            <a:ext cx="5669280" cy="11521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8056" y="137160"/>
            <a:ext cx="10497312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50" b="1">
                <a:solidFill>
                  <a:srgbClr val="052675"/>
                </a:solidFill>
                <a:latin typeface="Microsoft YaHei UI"/>
                <a:ea typeface="Microsoft YaHei UI"/>
                <a:cs typeface="Microsoft YaHei UI"/>
              </a:rPr>
              <a:t>AI应用案例：行政区划目录梳理与地址智能治理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"/>
            <a:ext cx="10826496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052675"/>
                </a:solidFill>
                <a:latin typeface="Microsoft YaHei"/>
                <a:ea typeface="Microsoft YaHei"/>
                <a:cs typeface="Microsoft YaHei"/>
              </a:rPr>
              <a:t>基于行政区划目录、地址清洗、智能解析与规则融合，实现地址到省、市、区县、乡镇街道的自动匹配、标准化输出与闭环治理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" y="1133856"/>
            <a:ext cx="6318504" cy="22494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1430">
            <a:solidFill>
              <a:srgbClr val="7BB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1752" y="1124712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1636776" y="1124712"/>
            <a:ext cx="621792" cy="347472"/>
          </a:xfrm>
          <a:prstGeom prst="parallelogram">
            <a:avLst/>
          </a:prstGeom>
          <a:solidFill>
            <a:srgbClr val="003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9576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一、案例概述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572768"/>
            <a:ext cx="1408176" cy="16550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86" y="1617814"/>
            <a:ext cx="714579" cy="7145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5216" y="2295144"/>
            <a:ext cx="118872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业务对象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569464"/>
            <a:ext cx="1188720" cy="5212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行政区划目录 +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企业地址数据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02536" y="1572768"/>
            <a:ext cx="1408176" cy="16550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334" y="1617814"/>
            <a:ext cx="714579" cy="7145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12264" y="2295144"/>
            <a:ext cx="118872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核心目标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12264" y="2569464"/>
            <a:ext cx="1188720" cy="5212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把原始地址自动映射到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标准区划层级与代码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1572768"/>
            <a:ext cx="1408176" cy="16550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ocu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216" y="1617814"/>
            <a:ext cx="714579" cy="7145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84448" y="2295144"/>
            <a:ext cx="118872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输出结果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2569464"/>
            <a:ext cx="1188720" cy="5212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区划名称、区划代码、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精度等级、置信度、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异常说明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74336" y="1572768"/>
            <a:ext cx="1408176" cy="16550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gr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1832" y="1617814"/>
            <a:ext cx="714579" cy="71457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84064" y="2295144"/>
            <a:ext cx="118872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4064" y="2569464"/>
            <a:ext cx="1188720" cy="5212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政务数据治理、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市场监管、地址标准化、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数据清洗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48272" y="1133856"/>
            <a:ext cx="7488936" cy="224942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1430">
            <a:solidFill>
              <a:srgbClr val="7BB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48272" y="1124712"/>
            <a:ext cx="2093976" cy="347472"/>
          </a:xfrm>
          <a:prstGeom prst="roundRect">
            <a:avLst>
              <a:gd name="adj" fmla="val 8000"/>
            </a:avLst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8394192" y="1124712"/>
            <a:ext cx="621792" cy="347472"/>
          </a:xfrm>
          <a:prstGeom prst="parallelogram">
            <a:avLst/>
          </a:prstGeom>
          <a:solidFill>
            <a:srgbClr val="003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1179576"/>
            <a:ext cx="1865376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二、AI处理流程</a:t>
            </a:r>
          </a:p>
        </p:txBody>
      </p:sp>
      <p:sp>
        <p:nvSpPr>
          <p:cNvPr id="29" name="Oval 28"/>
          <p:cNvSpPr/>
          <p:nvPr/>
        </p:nvSpPr>
        <p:spPr>
          <a:xfrm>
            <a:off x="6986016" y="1655064"/>
            <a:ext cx="804672" cy="804672"/>
          </a:xfrm>
          <a:prstGeom prst="ellipse">
            <a:avLst/>
          </a:prstGeom>
          <a:solidFill>
            <a:srgbClr val="EEF6FF"/>
          </a:solidFill>
          <a:ln w="10160">
            <a:solidFill>
              <a:srgbClr val="CEE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7167" y="1684613"/>
            <a:ext cx="763860" cy="763860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7296912" y="1554480"/>
            <a:ext cx="219456" cy="219456"/>
          </a:xfrm>
          <a:prstGeom prst="ellipse">
            <a:avLst/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96912" y="1563624"/>
            <a:ext cx="219456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523744"/>
            <a:ext cx="1060704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区划底表整理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67144" y="2788920"/>
            <a:ext cx="104241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层级、父节点、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完整路径</a:t>
            </a:r>
          </a:p>
        </p:txBody>
      </p:sp>
      <p:sp>
        <p:nvSpPr>
          <p:cNvPr id="35" name="Oval 34"/>
          <p:cNvSpPr/>
          <p:nvPr/>
        </p:nvSpPr>
        <p:spPr>
          <a:xfrm>
            <a:off x="8202168" y="1655064"/>
            <a:ext cx="804672" cy="804672"/>
          </a:xfrm>
          <a:prstGeom prst="ellipse">
            <a:avLst/>
          </a:prstGeom>
          <a:solidFill>
            <a:srgbClr val="EEF6FF"/>
          </a:solidFill>
          <a:ln w="10160">
            <a:solidFill>
              <a:srgbClr val="CEE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broo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2573" y="1685359"/>
            <a:ext cx="763860" cy="763860"/>
          </a:xfrm>
          <a:prstGeom prst="rect">
            <a:avLst/>
          </a:prstGeom>
        </p:spPr>
      </p:pic>
      <p:sp>
        <p:nvSpPr>
          <p:cNvPr id="37" name="Oval 36"/>
          <p:cNvSpPr/>
          <p:nvPr/>
        </p:nvSpPr>
        <p:spPr>
          <a:xfrm>
            <a:off x="8513064" y="1554480"/>
            <a:ext cx="219456" cy="219456"/>
          </a:xfrm>
          <a:prstGeom prst="ellipse">
            <a:avLst/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13064" y="1563624"/>
            <a:ext cx="219456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74152" y="2523744"/>
            <a:ext cx="1060704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地址清洗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83296" y="2788920"/>
            <a:ext cx="104241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去噪、标准化、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简称归一</a:t>
            </a:r>
          </a:p>
        </p:txBody>
      </p:sp>
      <p:sp>
        <p:nvSpPr>
          <p:cNvPr id="41" name="Oval 40"/>
          <p:cNvSpPr/>
          <p:nvPr/>
        </p:nvSpPr>
        <p:spPr>
          <a:xfrm>
            <a:off x="9390888" y="1655064"/>
            <a:ext cx="804672" cy="804672"/>
          </a:xfrm>
          <a:prstGeom prst="ellipse">
            <a:avLst/>
          </a:prstGeom>
          <a:solidFill>
            <a:srgbClr val="EEF6FF"/>
          </a:solidFill>
          <a:ln w="10160">
            <a:solidFill>
              <a:srgbClr val="CEE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ra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1293" y="1684613"/>
            <a:ext cx="763860" cy="763860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9701784" y="1554480"/>
            <a:ext cx="219456" cy="219456"/>
          </a:xfrm>
          <a:prstGeom prst="ellipse">
            <a:avLst/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01784" y="1563624"/>
            <a:ext cx="219456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62872" y="2523744"/>
            <a:ext cx="1060704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AI地址解析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72016" y="2788920"/>
            <a:ext cx="104241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JioNLP / 文本理解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提取省市区镇</a:t>
            </a:r>
          </a:p>
        </p:txBody>
      </p:sp>
      <p:sp>
        <p:nvSpPr>
          <p:cNvPr id="47" name="Oval 46"/>
          <p:cNvSpPr/>
          <p:nvPr/>
        </p:nvSpPr>
        <p:spPr>
          <a:xfrm>
            <a:off x="10552176" y="1655064"/>
            <a:ext cx="804672" cy="804672"/>
          </a:xfrm>
          <a:prstGeom prst="ellipse">
            <a:avLst/>
          </a:prstGeom>
          <a:solidFill>
            <a:srgbClr val="EEF6FF"/>
          </a:solidFill>
          <a:ln w="10160">
            <a:solidFill>
              <a:srgbClr val="CEE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hierarch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321" y="1683605"/>
            <a:ext cx="765876" cy="765876"/>
          </a:xfrm>
          <a:prstGeom prst="rect">
            <a:avLst/>
          </a:prstGeom>
        </p:spPr>
      </p:pic>
      <p:sp>
        <p:nvSpPr>
          <p:cNvPr id="49" name="Oval 48"/>
          <p:cNvSpPr/>
          <p:nvPr/>
        </p:nvSpPr>
        <p:spPr>
          <a:xfrm>
            <a:off x="10863072" y="1554480"/>
            <a:ext cx="219456" cy="219456"/>
          </a:xfrm>
          <a:prstGeom prst="ellipse">
            <a:avLst/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863072" y="1563624"/>
            <a:ext cx="219456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0" y="2523744"/>
            <a:ext cx="1060704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规则融合匹配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33304" y="2788920"/>
            <a:ext cx="104241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区划树校验、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父子链消歧</a:t>
            </a:r>
          </a:p>
        </p:txBody>
      </p:sp>
      <p:sp>
        <p:nvSpPr>
          <p:cNvPr id="53" name="Oval 52"/>
          <p:cNvSpPr/>
          <p:nvPr/>
        </p:nvSpPr>
        <p:spPr>
          <a:xfrm>
            <a:off x="11722608" y="1655064"/>
            <a:ext cx="804672" cy="804672"/>
          </a:xfrm>
          <a:prstGeom prst="ellipse">
            <a:avLst/>
          </a:prstGeom>
          <a:solidFill>
            <a:srgbClr val="EEF6FF"/>
          </a:solidFill>
          <a:ln w="10160">
            <a:solidFill>
              <a:srgbClr val="CEE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shiel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43759" y="1684613"/>
            <a:ext cx="763860" cy="763860"/>
          </a:xfrm>
          <a:prstGeom prst="rect">
            <a:avLst/>
          </a:prstGeom>
        </p:spPr>
      </p:pic>
      <p:sp>
        <p:nvSpPr>
          <p:cNvPr id="55" name="Oval 54"/>
          <p:cNvSpPr/>
          <p:nvPr/>
        </p:nvSpPr>
        <p:spPr>
          <a:xfrm>
            <a:off x="12033504" y="1554480"/>
            <a:ext cx="219456" cy="219456"/>
          </a:xfrm>
          <a:prstGeom prst="ellipse">
            <a:avLst/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033504" y="1563624"/>
            <a:ext cx="219456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594592" y="2523744"/>
            <a:ext cx="1060704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置信度评分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603736" y="2788920"/>
            <a:ext cx="104241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高 / 中 / 低，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精度等级L1-L4</a:t>
            </a:r>
          </a:p>
        </p:txBody>
      </p:sp>
      <p:sp>
        <p:nvSpPr>
          <p:cNvPr id="59" name="Oval 58"/>
          <p:cNvSpPr/>
          <p:nvPr/>
        </p:nvSpPr>
        <p:spPr>
          <a:xfrm>
            <a:off x="13185648" y="1655064"/>
            <a:ext cx="804672" cy="804672"/>
          </a:xfrm>
          <a:prstGeom prst="ellipse">
            <a:avLst/>
          </a:prstGeom>
          <a:solidFill>
            <a:srgbClr val="EEF6FF"/>
          </a:solidFill>
          <a:ln w="10160">
            <a:solidFill>
              <a:srgbClr val="CEE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person_loo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206799" y="1684613"/>
            <a:ext cx="763860" cy="763860"/>
          </a:xfrm>
          <a:prstGeom prst="rect">
            <a:avLst/>
          </a:prstGeom>
        </p:spPr>
      </p:pic>
      <p:sp>
        <p:nvSpPr>
          <p:cNvPr id="61" name="Oval 60"/>
          <p:cNvSpPr/>
          <p:nvPr/>
        </p:nvSpPr>
        <p:spPr>
          <a:xfrm>
            <a:off x="13496544" y="1554480"/>
            <a:ext cx="219456" cy="219456"/>
          </a:xfrm>
          <a:prstGeom prst="ellipse">
            <a:avLst/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496544" y="1563624"/>
            <a:ext cx="219456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057632" y="2523744"/>
            <a:ext cx="1060704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人工复核闭环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066776" y="2788920"/>
            <a:ext cx="104241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低置信度回流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优化规则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7845552" y="1984248"/>
            <a:ext cx="274320" cy="182880"/>
          </a:xfrm>
          <a:prstGeom prst="rightArrow">
            <a:avLst/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ight Arrow 65"/>
          <p:cNvSpPr/>
          <p:nvPr/>
        </p:nvSpPr>
        <p:spPr>
          <a:xfrm>
            <a:off x="9061704" y="1984248"/>
            <a:ext cx="274320" cy="182880"/>
          </a:xfrm>
          <a:prstGeom prst="rightArrow">
            <a:avLst/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ight Arrow 66"/>
          <p:cNvSpPr/>
          <p:nvPr/>
        </p:nvSpPr>
        <p:spPr>
          <a:xfrm>
            <a:off x="10250424" y="1984248"/>
            <a:ext cx="274320" cy="182880"/>
          </a:xfrm>
          <a:prstGeom prst="rightArrow">
            <a:avLst/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ight Arrow 67"/>
          <p:cNvSpPr/>
          <p:nvPr/>
        </p:nvSpPr>
        <p:spPr>
          <a:xfrm>
            <a:off x="11402568" y="1984248"/>
            <a:ext cx="274320" cy="182880"/>
          </a:xfrm>
          <a:prstGeom prst="rightArrow">
            <a:avLst/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ight Arrow 68"/>
          <p:cNvSpPr/>
          <p:nvPr/>
        </p:nvSpPr>
        <p:spPr>
          <a:xfrm>
            <a:off x="12573000" y="1984248"/>
            <a:ext cx="274320" cy="182880"/>
          </a:xfrm>
          <a:prstGeom prst="rightArrow">
            <a:avLst/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01752" y="3493008"/>
            <a:ext cx="7022592" cy="30906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1430">
            <a:solidFill>
              <a:srgbClr val="7BB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01752" y="3483864"/>
            <a:ext cx="2139696" cy="347472"/>
          </a:xfrm>
          <a:prstGeom prst="roundRect">
            <a:avLst>
              <a:gd name="adj" fmla="val 8000"/>
            </a:avLst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Parallelogram 71"/>
          <p:cNvSpPr/>
          <p:nvPr/>
        </p:nvSpPr>
        <p:spPr>
          <a:xfrm>
            <a:off x="1993392" y="3483864"/>
            <a:ext cx="621792" cy="347472"/>
          </a:xfrm>
          <a:prstGeom prst="parallelogram">
            <a:avLst/>
          </a:prstGeom>
          <a:solidFill>
            <a:srgbClr val="003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3538728"/>
            <a:ext cx="1911095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三、案例处理示例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48056" y="3941063"/>
            <a:ext cx="2606040" cy="2203704"/>
          </a:xfrm>
          <a:prstGeom prst="roundRect">
            <a:avLst>
              <a:gd name="adj" fmla="val 2500"/>
            </a:avLst>
          </a:prstGeom>
          <a:solidFill>
            <a:srgbClr val="FBFD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48056" y="3941063"/>
            <a:ext cx="2606040" cy="365760"/>
          </a:xfrm>
          <a:prstGeom prst="rect">
            <a:avLst/>
          </a:prstGeom>
          <a:solidFill>
            <a:srgbClr val="EFF6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8056" y="4023360"/>
            <a:ext cx="26060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输入：原始地址（示例）</a:t>
            </a:r>
          </a:p>
        </p:txBody>
      </p:sp>
      <p:pic>
        <p:nvPicPr>
          <p:cNvPr id="77" name="Picture 76" descr="pi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195" y="4420594"/>
            <a:ext cx="394250" cy="39425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41248" y="4517136"/>
            <a:ext cx="2057400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深圳市宝安区新安街道创业一路100号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48056" y="4919472"/>
            <a:ext cx="2606040" cy="0"/>
          </a:xfrm>
          <a:prstGeom prst="line">
            <a:avLst/>
          </a:prstGeom>
          <a:ln w="10160">
            <a:solidFill>
              <a:srgbClr val="D7E6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0" name="Picture 79" descr="pi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195" y="5033242"/>
            <a:ext cx="394250" cy="39425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841248" y="5129784"/>
            <a:ext cx="2057400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广州天河员村黄埔大道中309号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448056" y="5532120"/>
            <a:ext cx="2606040" cy="0"/>
          </a:xfrm>
          <a:prstGeom prst="line">
            <a:avLst/>
          </a:prstGeom>
          <a:ln w="10160">
            <a:solidFill>
              <a:srgbClr val="D7E6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Picture 82" descr="pi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195" y="5645890"/>
            <a:ext cx="394250" cy="394250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841248" y="5742432"/>
            <a:ext cx="2057400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东莞松山湖高新区工业南路</a:t>
            </a:r>
          </a:p>
        </p:txBody>
      </p:sp>
      <p:sp>
        <p:nvSpPr>
          <p:cNvPr id="85" name="Right Arrow 84"/>
          <p:cNvSpPr/>
          <p:nvPr/>
        </p:nvSpPr>
        <p:spPr>
          <a:xfrm>
            <a:off x="2862072" y="5065776"/>
            <a:ext cx="493776" cy="320040"/>
          </a:xfrm>
          <a:prstGeom prst="rightArrow">
            <a:avLst/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3364992" y="3941063"/>
            <a:ext cx="3785615" cy="220370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364992" y="3941063"/>
            <a:ext cx="3785615" cy="365760"/>
          </a:xfrm>
          <a:prstGeom prst="rect">
            <a:avLst/>
          </a:prstGeom>
          <a:solidFill>
            <a:srgbClr val="EFF6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364992" y="4023360"/>
            <a:ext cx="3785615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输出：结构化匹配结果（示例）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364992" y="4315968"/>
            <a:ext cx="365760" cy="320040"/>
          </a:xfrm>
          <a:prstGeom prst="rect">
            <a:avLst/>
          </a:prstGeom>
          <a:solidFill>
            <a:srgbClr val="0068D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364992" y="4389120"/>
            <a:ext cx="365760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省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730752" y="4315968"/>
            <a:ext cx="438912" cy="320040"/>
          </a:xfrm>
          <a:prstGeom prst="rect">
            <a:avLst/>
          </a:prstGeom>
          <a:solidFill>
            <a:srgbClr val="0068D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730752" y="4389120"/>
            <a:ext cx="438912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169663" y="4315968"/>
            <a:ext cx="457200" cy="320040"/>
          </a:xfrm>
          <a:prstGeom prst="rect">
            <a:avLst/>
          </a:prstGeom>
          <a:solidFill>
            <a:srgbClr val="0068D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169663" y="4389120"/>
            <a:ext cx="457200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区县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626864" y="4315968"/>
            <a:ext cx="685800" cy="320040"/>
          </a:xfrm>
          <a:prstGeom prst="rect">
            <a:avLst/>
          </a:prstGeom>
          <a:solidFill>
            <a:srgbClr val="0068D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626864" y="4389120"/>
            <a:ext cx="685800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乡镇街道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312664" y="4315968"/>
            <a:ext cx="676656" cy="320040"/>
          </a:xfrm>
          <a:prstGeom prst="rect">
            <a:avLst/>
          </a:prstGeom>
          <a:solidFill>
            <a:srgbClr val="0068D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312664" y="4389120"/>
            <a:ext cx="676656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区划代码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89320" y="4315968"/>
            <a:ext cx="338328" cy="320040"/>
          </a:xfrm>
          <a:prstGeom prst="rect">
            <a:avLst/>
          </a:prstGeom>
          <a:solidFill>
            <a:srgbClr val="0068D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89320" y="4389120"/>
            <a:ext cx="338328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精度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327648" y="4315968"/>
            <a:ext cx="393192" cy="320040"/>
          </a:xfrm>
          <a:prstGeom prst="rect">
            <a:avLst/>
          </a:prstGeom>
          <a:solidFill>
            <a:srgbClr val="0068D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327648" y="4389120"/>
            <a:ext cx="393192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置信度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720840" y="4315968"/>
            <a:ext cx="429768" cy="320040"/>
          </a:xfrm>
          <a:prstGeom prst="rect">
            <a:avLst/>
          </a:prstGeom>
          <a:solidFill>
            <a:srgbClr val="0068D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720840" y="4389120"/>
            <a:ext cx="429768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异常说明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364992" y="4636008"/>
            <a:ext cx="3657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383280" y="4782312"/>
            <a:ext cx="329184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广东省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730752" y="4636008"/>
            <a:ext cx="438912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749039" y="4782312"/>
            <a:ext cx="402336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深圳市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169663" y="4636008"/>
            <a:ext cx="4572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187952" y="4782312"/>
            <a:ext cx="420624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宝安区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26864" y="4636008"/>
            <a:ext cx="6858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645152" y="4782312"/>
            <a:ext cx="649224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新安街道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312664" y="4636008"/>
            <a:ext cx="676656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330952" y="4782312"/>
            <a:ext cx="6400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440306001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989320" y="4636008"/>
            <a:ext cx="338328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007608" y="4782312"/>
            <a:ext cx="301752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L4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327648" y="4636008"/>
            <a:ext cx="393192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345936" y="4782312"/>
            <a:ext cx="356616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96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720840" y="4636008"/>
            <a:ext cx="429768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739128" y="4782312"/>
            <a:ext cx="393192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无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364992" y="5138928"/>
            <a:ext cx="3657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383280" y="5285232"/>
            <a:ext cx="329184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广东省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730752" y="5138928"/>
            <a:ext cx="438912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749039" y="5285232"/>
            <a:ext cx="402336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广州市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169663" y="5138928"/>
            <a:ext cx="4572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187952" y="5285232"/>
            <a:ext cx="420624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天河区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626864" y="5138928"/>
            <a:ext cx="6858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645152" y="5285232"/>
            <a:ext cx="649224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员村街道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312664" y="5138928"/>
            <a:ext cx="676656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330952" y="5285232"/>
            <a:ext cx="6400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440106002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989320" y="5138928"/>
            <a:ext cx="338328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007608" y="5285232"/>
            <a:ext cx="301752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L4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327648" y="5138928"/>
            <a:ext cx="393192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345936" y="5285232"/>
            <a:ext cx="356616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91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720840" y="5138928"/>
            <a:ext cx="429768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739128" y="5285232"/>
            <a:ext cx="393192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由简称补全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364992" y="5641848"/>
            <a:ext cx="3657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383280" y="5788152"/>
            <a:ext cx="329184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广东省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730752" y="5641848"/>
            <a:ext cx="438912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749039" y="5788152"/>
            <a:ext cx="402336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东莞市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169663" y="5641848"/>
            <a:ext cx="4572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187952" y="5788152"/>
            <a:ext cx="420624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626864" y="5641848"/>
            <a:ext cx="6858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645152" y="5788152"/>
            <a:ext cx="649224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松山湖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312664" y="5641848"/>
            <a:ext cx="676656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330952" y="5788152"/>
            <a:ext cx="640080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441900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989320" y="5641848"/>
            <a:ext cx="338328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007608" y="5788152"/>
            <a:ext cx="301752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327648" y="5641848"/>
            <a:ext cx="393192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345936" y="5788152"/>
            <a:ext cx="356616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68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720840" y="5641848"/>
            <a:ext cx="429768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BED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739128" y="5788152"/>
            <a:ext cx="393192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功能区需复核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7443216" y="3493008"/>
            <a:ext cx="6793992" cy="30906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1430">
            <a:solidFill>
              <a:srgbClr val="7BB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7443216" y="3483864"/>
            <a:ext cx="2295144" cy="347472"/>
          </a:xfrm>
          <a:prstGeom prst="roundRect">
            <a:avLst>
              <a:gd name="adj" fmla="val 8000"/>
            </a:avLst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Parallelogram 154"/>
          <p:cNvSpPr/>
          <p:nvPr/>
        </p:nvSpPr>
        <p:spPr>
          <a:xfrm>
            <a:off x="9290304" y="3483864"/>
            <a:ext cx="621792" cy="347472"/>
          </a:xfrm>
          <a:prstGeom prst="parallelogram">
            <a:avLst/>
          </a:prstGeom>
          <a:solidFill>
            <a:srgbClr val="003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598664" y="3538728"/>
            <a:ext cx="2066543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四、交互式应用设计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580375" y="3959352"/>
            <a:ext cx="1399032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795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8" name="Picture 157" descr="uploa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57955" y="4009499"/>
            <a:ext cx="320328" cy="320328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8037575" y="4078224"/>
            <a:ext cx="822960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上传地址文件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7580375" y="4462272"/>
            <a:ext cx="1399032" cy="411480"/>
          </a:xfrm>
          <a:prstGeom prst="roundRect">
            <a:avLst>
              <a:gd name="adj" fmla="val 6000"/>
            </a:avLst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1" name="Picture 160" descr="play_whi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58268" y="4512419"/>
            <a:ext cx="320328" cy="320328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8037575" y="4581144"/>
            <a:ext cx="822960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开始解析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7580375" y="4965192"/>
            <a:ext cx="1399032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795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4" name="Picture 163" descr="bars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57955" y="5015652"/>
            <a:ext cx="320328" cy="320328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8037575" y="5084064"/>
            <a:ext cx="822960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查看低置信度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7580375" y="5468112"/>
            <a:ext cx="1399032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795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7" name="Picture 166" descr="downloa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57955" y="5518259"/>
            <a:ext cx="320328" cy="320328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8037575" y="5586984"/>
            <a:ext cx="822960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导出结果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9134856" y="3858768"/>
            <a:ext cx="2642616" cy="23134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134856" y="3995928"/>
            <a:ext cx="2642616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请输入地址或上传CSV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9290304" y="4242816"/>
            <a:ext cx="2331720" cy="3108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400032" y="4334256"/>
            <a:ext cx="1737360" cy="1280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584A0"/>
                </a:solidFill>
                <a:latin typeface="Microsoft YaHei"/>
                <a:ea typeface="Microsoft YaHei"/>
                <a:cs typeface="Microsoft YaHei"/>
              </a:rPr>
              <a:t>请输入地址，如：深圳市宝安区...</a:t>
            </a:r>
          </a:p>
        </p:txBody>
      </p:sp>
      <p:pic>
        <p:nvPicPr>
          <p:cNvPr id="173" name="Picture 172" descr="magnifier_chart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28260" y="4296524"/>
            <a:ext cx="221766" cy="221766"/>
          </a:xfrm>
          <a:prstGeom prst="rect">
            <a:avLst/>
          </a:prstGeom>
        </p:spPr>
      </p:pic>
      <p:sp>
        <p:nvSpPr>
          <p:cNvPr id="174" name="Rounded Rectangle 173"/>
          <p:cNvSpPr/>
          <p:nvPr/>
        </p:nvSpPr>
        <p:spPr>
          <a:xfrm>
            <a:off x="9290304" y="4681728"/>
            <a:ext cx="2331720" cy="9235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B2CDF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5" name="Picture 174" descr="uploa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22582" y="4672758"/>
            <a:ext cx="566578" cy="566578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9555480" y="5175504"/>
            <a:ext cx="181051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15278"/>
                </a:solidFill>
                <a:latin typeface="Microsoft YaHei"/>
                <a:ea typeface="Microsoft YaHei"/>
                <a:cs typeface="Microsoft YaHei"/>
              </a:rPr>
              <a:t>拖拽CSV文件到此处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15278"/>
                </a:solidFill>
                <a:latin typeface="Microsoft YaHei"/>
                <a:ea typeface="Microsoft YaHei"/>
                <a:cs typeface="Microsoft YaHei"/>
              </a:rPr>
              <a:t>或点击上传</a:t>
            </a:r>
          </a:p>
        </p:txBody>
      </p:sp>
      <p:pic>
        <p:nvPicPr>
          <p:cNvPr id="177" name="Picture 176" descr="uploa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64123" y="5670531"/>
            <a:ext cx="344969" cy="344969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9217152" y="5998464"/>
            <a:ext cx="438912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上传</a:t>
            </a:r>
          </a:p>
        </p:txBody>
      </p:sp>
      <p:sp>
        <p:nvSpPr>
          <p:cNvPr id="179" name="Right Arrow 178"/>
          <p:cNvSpPr/>
          <p:nvPr/>
        </p:nvSpPr>
        <p:spPr>
          <a:xfrm>
            <a:off x="9674352" y="5815584"/>
            <a:ext cx="301752" cy="100584"/>
          </a:xfrm>
          <a:prstGeom prst="rightArrow">
            <a:avLst/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0" name="Picture 179" descr="spinner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86499" y="5670531"/>
            <a:ext cx="344969" cy="344969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9939528" y="5998464"/>
            <a:ext cx="438912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解析中</a:t>
            </a:r>
          </a:p>
        </p:txBody>
      </p:sp>
      <p:sp>
        <p:nvSpPr>
          <p:cNvPr id="182" name="Right Arrow 181"/>
          <p:cNvSpPr/>
          <p:nvPr/>
        </p:nvSpPr>
        <p:spPr>
          <a:xfrm>
            <a:off x="10396728" y="5815584"/>
            <a:ext cx="301752" cy="100584"/>
          </a:xfrm>
          <a:prstGeom prst="rightArrow">
            <a:avLst/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3" name="Picture 182" descr="file_result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700068" y="5670531"/>
            <a:ext cx="344969" cy="344969"/>
          </a:xfrm>
          <a:prstGeom prst="rect">
            <a:avLst/>
          </a:prstGeom>
        </p:spPr>
      </p:pic>
      <p:sp>
        <p:nvSpPr>
          <p:cNvPr id="184" name="TextBox 183"/>
          <p:cNvSpPr txBox="1"/>
          <p:nvPr/>
        </p:nvSpPr>
        <p:spPr>
          <a:xfrm>
            <a:off x="10652760" y="5998464"/>
            <a:ext cx="438912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生成结果</a:t>
            </a:r>
          </a:p>
        </p:txBody>
      </p:sp>
      <p:sp>
        <p:nvSpPr>
          <p:cNvPr id="185" name="Right Arrow 184"/>
          <p:cNvSpPr/>
          <p:nvPr/>
        </p:nvSpPr>
        <p:spPr>
          <a:xfrm>
            <a:off x="11109960" y="5815584"/>
            <a:ext cx="301752" cy="100584"/>
          </a:xfrm>
          <a:prstGeom prst="rightArrow">
            <a:avLst/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6" name="Picture 185" descr="loop_small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367580" y="5670531"/>
            <a:ext cx="344969" cy="344969"/>
          </a:xfrm>
          <a:prstGeom prst="rect">
            <a:avLst/>
          </a:prstGeom>
        </p:spPr>
      </p:pic>
      <p:sp>
        <p:nvSpPr>
          <p:cNvPr id="187" name="TextBox 186"/>
          <p:cNvSpPr txBox="1"/>
          <p:nvPr/>
        </p:nvSpPr>
        <p:spPr>
          <a:xfrm>
            <a:off x="11320272" y="5998464"/>
            <a:ext cx="438912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复核优化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11914632" y="3858768"/>
            <a:ext cx="2194560" cy="23134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11914632" y="3858768"/>
            <a:ext cx="2194560" cy="438912"/>
          </a:xfrm>
          <a:prstGeom prst="rect">
            <a:avLst/>
          </a:prstGeom>
          <a:solidFill>
            <a:srgbClr val="E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2051792" y="4032504"/>
            <a:ext cx="731520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匹配结果</a:t>
            </a:r>
          </a:p>
        </p:txBody>
      </p:sp>
      <p:sp>
        <p:nvSpPr>
          <p:cNvPr id="191" name="Oval 190"/>
          <p:cNvSpPr/>
          <p:nvPr/>
        </p:nvSpPr>
        <p:spPr>
          <a:xfrm>
            <a:off x="13350240" y="4014215"/>
            <a:ext cx="164592" cy="164592"/>
          </a:xfrm>
          <a:prstGeom prst="ellipse">
            <a:avLst/>
          </a:prstGeom>
          <a:noFill/>
          <a:ln w="19050">
            <a:solidFill>
              <a:srgbClr val="1F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3569696" y="4023360"/>
            <a:ext cx="438912" cy="1463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F8B5A"/>
                </a:solidFill>
                <a:latin typeface="Microsoft YaHei"/>
                <a:ea typeface="Microsoft YaHei"/>
                <a:cs typeface="Microsoft YaHei"/>
              </a:rPr>
              <a:t>已匹配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2033504" y="445312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候选数：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3807440" y="4453128"/>
            <a:ext cx="1828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12024360" y="4764024"/>
            <a:ext cx="1965960" cy="0"/>
          </a:xfrm>
          <a:prstGeom prst="line">
            <a:avLst/>
          </a:prstGeom>
          <a:ln w="10160">
            <a:solidFill>
              <a:srgbClr val="CDE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TextBox 195"/>
          <p:cNvSpPr txBox="1"/>
          <p:nvPr/>
        </p:nvSpPr>
        <p:spPr>
          <a:xfrm>
            <a:off x="12033504" y="48920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规则说明：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2856464" y="4892040"/>
            <a:ext cx="102412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区划树匹配 + 别名归一</a:t>
            </a:r>
          </a:p>
        </p:txBody>
      </p:sp>
      <p:cxnSp>
        <p:nvCxnSpPr>
          <p:cNvPr id="198" name="Connector 197"/>
          <p:cNvCxnSpPr/>
          <p:nvPr/>
        </p:nvCxnSpPr>
        <p:spPr>
          <a:xfrm>
            <a:off x="12024360" y="5102352"/>
            <a:ext cx="1965960" cy="0"/>
          </a:xfrm>
          <a:prstGeom prst="line">
            <a:avLst/>
          </a:prstGeom>
          <a:ln w="10160">
            <a:solidFill>
              <a:srgbClr val="CDE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12033504" y="5276088"/>
            <a:ext cx="8686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人工复核建议：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2508992" y="5532120"/>
            <a:ext cx="1371600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置信度 &lt; 80 的记录建议复核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2682728" y="5843016"/>
            <a:ext cx="822960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查看详情 〉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7580375" y="6227064"/>
            <a:ext cx="6537960" cy="274320"/>
          </a:xfrm>
          <a:prstGeom prst="roundRect">
            <a:avLst>
              <a:gd name="adj" fmla="val 3500"/>
            </a:avLst>
          </a:prstGeom>
          <a:solidFill>
            <a:srgbClr val="EBF4FF"/>
          </a:solidFill>
          <a:ln w="9525">
            <a:solidFill>
              <a:srgbClr val="7BB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7690104" y="6300216"/>
            <a:ext cx="192024" cy="192024"/>
          </a:xfrm>
          <a:prstGeom prst="ellipse">
            <a:avLst/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7690104" y="6300216"/>
            <a:ext cx="192024" cy="1737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973568" y="6309360"/>
            <a:ext cx="3931920" cy="1554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支持批量处理、结果追溯、低置信度回流优化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301752" y="6720840"/>
            <a:ext cx="13935456" cy="13258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1430">
            <a:solidFill>
              <a:srgbClr val="7BB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ounded Rectangle 206"/>
          <p:cNvSpPr/>
          <p:nvPr/>
        </p:nvSpPr>
        <p:spPr>
          <a:xfrm>
            <a:off x="301752" y="6711696"/>
            <a:ext cx="2112264" cy="347472"/>
          </a:xfrm>
          <a:prstGeom prst="roundRect">
            <a:avLst>
              <a:gd name="adj" fmla="val 8000"/>
            </a:avLst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Parallelogram 207"/>
          <p:cNvSpPr/>
          <p:nvPr/>
        </p:nvSpPr>
        <p:spPr>
          <a:xfrm>
            <a:off x="1965960" y="6711696"/>
            <a:ext cx="621792" cy="347472"/>
          </a:xfrm>
          <a:prstGeom prst="parallelogram">
            <a:avLst/>
          </a:prstGeom>
          <a:solidFill>
            <a:srgbClr val="003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457200" y="6766560"/>
            <a:ext cx="1883664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五、应用价值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475488" y="7086600"/>
            <a:ext cx="3273552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1" name="Picture 210" descr="efficiency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4927" y="7112973"/>
            <a:ext cx="788501" cy="788501"/>
          </a:xfrm>
          <a:prstGeom prst="rect">
            <a:avLst/>
          </a:prstGeom>
        </p:spPr>
      </p:pic>
      <p:sp>
        <p:nvSpPr>
          <p:cNvPr id="212" name="TextBox 211"/>
          <p:cNvSpPr txBox="1"/>
          <p:nvPr/>
        </p:nvSpPr>
        <p:spPr>
          <a:xfrm>
            <a:off x="1463040" y="7269480"/>
            <a:ext cx="2084831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效率提升：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463040" y="7571231"/>
            <a:ext cx="2084831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从人工逐条判断转为自动化批处理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3904487" y="7086600"/>
            <a:ext cx="3410712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5" name="Picture 214" descr="shiel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13927" y="7112973"/>
            <a:ext cx="788501" cy="788501"/>
          </a:xfrm>
          <a:prstGeom prst="rect">
            <a:avLst/>
          </a:prstGeom>
        </p:spPr>
      </p:pic>
      <p:sp>
        <p:nvSpPr>
          <p:cNvPr id="216" name="TextBox 215"/>
          <p:cNvSpPr txBox="1"/>
          <p:nvPr/>
        </p:nvSpPr>
        <p:spPr>
          <a:xfrm>
            <a:off x="4892040" y="7269480"/>
            <a:ext cx="2221992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标准统一：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4892040" y="7571231"/>
            <a:ext cx="2221992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输出标准区划名称、代码和完整路径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7443216" y="7086600"/>
            <a:ext cx="3291840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9" name="Picture 218" descr="magnifier_chart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97791" y="7168607"/>
            <a:ext cx="640657" cy="640657"/>
          </a:xfrm>
          <a:prstGeom prst="rect">
            <a:avLst/>
          </a:prstGeom>
        </p:spPr>
      </p:pic>
      <p:sp>
        <p:nvSpPr>
          <p:cNvPr id="220" name="TextBox 219"/>
          <p:cNvSpPr txBox="1"/>
          <p:nvPr/>
        </p:nvSpPr>
        <p:spPr>
          <a:xfrm>
            <a:off x="8430768" y="7269480"/>
            <a:ext cx="210312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过程可解释：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8430768" y="7571231"/>
            <a:ext cx="2103120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保留异常说明、候选数、置信度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10844784" y="7086600"/>
            <a:ext cx="3163824" cy="8412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B2C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3" name="Picture 222" descr="person_loo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54223" y="7112973"/>
            <a:ext cx="788501" cy="788501"/>
          </a:xfrm>
          <a:prstGeom prst="rect">
            <a:avLst/>
          </a:prstGeom>
        </p:spPr>
      </p:pic>
      <p:sp>
        <p:nvSpPr>
          <p:cNvPr id="224" name="TextBox 223"/>
          <p:cNvSpPr txBox="1"/>
          <p:nvPr/>
        </p:nvSpPr>
        <p:spPr>
          <a:xfrm>
            <a:off x="11832336" y="7269480"/>
            <a:ext cx="1975104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52C4"/>
                </a:solidFill>
                <a:latin typeface="Microsoft YaHei"/>
                <a:ea typeface="Microsoft YaHei"/>
                <a:cs typeface="Microsoft YaHei"/>
              </a:rPr>
              <a:t>持续优化：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1832336" y="7571231"/>
            <a:ext cx="1975104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22142"/>
                </a:solidFill>
                <a:latin typeface="Microsoft YaHei"/>
                <a:ea typeface="Microsoft YaHei"/>
                <a:cs typeface="Microsoft YaHei"/>
              </a:rPr>
              <a:t>人机协同，规则与模型不断迭代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182880" y="8138160"/>
            <a:ext cx="14200632" cy="713232"/>
          </a:xfrm>
          <a:prstGeom prst="roundRect">
            <a:avLst>
              <a:gd name="adj" fmla="val 4500"/>
            </a:avLst>
          </a:prstGeom>
          <a:solidFill>
            <a:srgbClr val="006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Parallelogram 226"/>
          <p:cNvSpPr/>
          <p:nvPr/>
        </p:nvSpPr>
        <p:spPr>
          <a:xfrm>
            <a:off x="7763256" y="8138160"/>
            <a:ext cx="1609344" cy="713232"/>
          </a:xfrm>
          <a:prstGeom prst="parallelogram">
            <a:avLst/>
          </a:prstGeom>
          <a:solidFill>
            <a:srgbClr val="003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8" name="Picture 227" descr="target_whit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66090" y="8129930"/>
            <a:ext cx="702259" cy="702259"/>
          </a:xfrm>
          <a:prstGeom prst="rect">
            <a:avLst/>
          </a:prstGeom>
        </p:spPr>
      </p:pic>
      <p:sp>
        <p:nvSpPr>
          <p:cNvPr id="229" name="TextBox 228"/>
          <p:cNvSpPr txBox="1"/>
          <p:nvPr/>
        </p:nvSpPr>
        <p:spPr>
          <a:xfrm>
            <a:off x="1014984" y="8339327"/>
            <a:ext cx="1097280" cy="283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核心方法：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2231136" y="8311896"/>
            <a:ext cx="6583680" cy="356616"/>
          </a:xfrm>
          <a:prstGeom prst="rect">
            <a:avLst/>
          </a:prstGeom>
          <a:noFill/>
        </p:spPr>
        <p:txBody>
          <a:bodyPr wrap="none" anchor="ctr" lIns="0" r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80" b="1">
                <a:solidFill>
                  <a:srgbClr val="FFEB2A"/>
                </a:solidFill>
                <a:latin typeface="Microsoft YaHei"/>
                <a:ea typeface="Microsoft YaHei"/>
                <a:cs typeface="Microsoft YaHei"/>
              </a:rPr>
              <a:t>区划底表 + 地址清洗 + AI解析 + 规则校验 + 置信度评分 + 人工复核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9235440" y="8284464"/>
            <a:ext cx="4828032" cy="466344"/>
          </a:xfrm>
          <a:prstGeom prst="roundRect">
            <a:avLst>
              <a:gd name="adj" fmla="val 18000"/>
            </a:avLst>
          </a:prstGeom>
          <a:solidFill>
            <a:srgbClr val="E8F4FF"/>
          </a:solidFill>
          <a:ln w="10160">
            <a:solidFill>
              <a:srgbClr val="AAC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2" name="Picture 231" descr="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47" y="8306523"/>
            <a:ext cx="449657" cy="449657"/>
          </a:xfrm>
          <a:prstGeom prst="rect">
            <a:avLst/>
          </a:prstGeom>
        </p:spPr>
      </p:pic>
      <p:sp>
        <p:nvSpPr>
          <p:cNvPr id="233" name="TextBox 232"/>
          <p:cNvSpPr txBox="1"/>
          <p:nvPr/>
        </p:nvSpPr>
        <p:spPr>
          <a:xfrm>
            <a:off x="9912096" y="8412480"/>
            <a:ext cx="3840480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52675"/>
                </a:solidFill>
                <a:latin typeface="Microsoft YaHei"/>
                <a:ea typeface="Microsoft YaHei"/>
                <a:cs typeface="Microsoft YaHei"/>
              </a:rPr>
              <a:t>适用于政务数据治理 / 市场监管 / 地址标准化场景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