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61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3550" y="204172"/>
            <a:ext cx="9406506" cy="4812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工作流模板：先计划，后执行；先小步，后放大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8133" y="816688"/>
            <a:ext cx="7656459" cy="2916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20" b="0">
                <a:solidFill>
                  <a:srgbClr val="5557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是任务说明书，政务数据分析尤其要先统一口径，再判断问题。</a:t>
            </a:r>
            <a:endParaRPr sz="2120" b="0">
              <a:solidFill>
                <a:srgbClr val="5557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6047" y="1195865"/>
            <a:ext cx="5884535" cy="546889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0E5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56267" y="1575043"/>
            <a:ext cx="0" cy="3893856"/>
          </a:xfrm>
          <a:prstGeom prst="line">
            <a:avLst/>
          </a:prstGeom>
          <a:ln w="12700">
            <a:solidFill>
              <a:srgbClr val="0E5B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7521" y="1575043"/>
            <a:ext cx="306258" cy="0"/>
          </a:xfrm>
          <a:prstGeom prst="line">
            <a:avLst/>
          </a:prstGeom>
          <a:ln w="10160">
            <a:solidFill>
              <a:srgbClr val="0E5B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6679" y="1553167"/>
            <a:ext cx="379177" cy="379177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889" y="1611502"/>
            <a:ext cx="218755" cy="22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4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" name="Picture 9" descr="step_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000" y="1256589"/>
            <a:ext cx="917055" cy="91705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187559" y="1429205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64F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描述目标</a:t>
            </a:r>
            <a:endParaRPr sz="1950" b="1">
              <a:solidFill>
                <a:srgbClr val="064F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5949" y="1786507"/>
            <a:ext cx="3791770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明确要解决的问题、使用场景、预期价值和决策用途。</a:t>
            </a:r>
            <a:endParaRPr sz="12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66679" y="2508401"/>
            <a:ext cx="379177" cy="379177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89" y="2566736"/>
            <a:ext cx="218755" cy="22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4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5" name="Picture 14" descr="step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2" y="2211823"/>
            <a:ext cx="917055" cy="917055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2187559" y="2384440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64F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给资料</a:t>
            </a:r>
            <a:endParaRPr sz="1950" b="1">
              <a:solidFill>
                <a:srgbClr val="064F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05949" y="2741741"/>
            <a:ext cx="3791770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提供数据字典、指标口径、原始数据、历史报告等资料。</a:t>
            </a:r>
            <a:endParaRPr sz="12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66679" y="3463636"/>
            <a:ext cx="379177" cy="379177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89" y="3521971"/>
            <a:ext cx="218755" cy="22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4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Picture 19" descr="step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00" y="3167057"/>
            <a:ext cx="917055" cy="91705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2187559" y="3339674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64F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要计划</a:t>
            </a:r>
            <a:endParaRPr sz="1950" b="1">
              <a:solidFill>
                <a:srgbClr val="064F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5949" y="3696975"/>
            <a:ext cx="3791770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Codex 先给出分析思路、步骤拆解、所需字段和方法。</a:t>
            </a:r>
            <a:endParaRPr sz="12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66679" y="4418870"/>
            <a:ext cx="379177" cy="379177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89" y="4477205"/>
            <a:ext cx="218755" cy="22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4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5" name="Picture 24" descr="step_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72" y="4122292"/>
            <a:ext cx="917055" cy="917055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2187559" y="4294908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64F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分步执行</a:t>
            </a:r>
            <a:endParaRPr sz="1950" b="1">
              <a:solidFill>
                <a:srgbClr val="064F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05949" y="4652210"/>
            <a:ext cx="3791770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按计划逐步执行，每一步产出可检查、可追溯的结果。</a:t>
            </a:r>
            <a:endParaRPr sz="12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66679" y="5374105"/>
            <a:ext cx="379177" cy="379177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889" y="5432440"/>
            <a:ext cx="218755" cy="22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24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0" name="Picture 29" descr="step_check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72" y="5077526"/>
            <a:ext cx="917055" cy="91705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2187559" y="5250143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64F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验收复盘</a:t>
            </a:r>
            <a:endParaRPr sz="1950" b="1">
              <a:solidFill>
                <a:srgbClr val="064F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05949" y="5607444"/>
            <a:ext cx="3791770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检查结果与事实一致性，沉淀经验与可复用的流程资产。</a:t>
            </a:r>
            <a:endParaRPr sz="12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93779" y="2216727"/>
            <a:ext cx="4856383" cy="0"/>
          </a:xfrm>
          <a:prstGeom prst="line">
            <a:avLst/>
          </a:prstGeom>
          <a:ln w="10160">
            <a:solidFill>
              <a:srgbClr val="BCD3F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3779" y="3171961"/>
            <a:ext cx="4856383" cy="0"/>
          </a:xfrm>
          <a:prstGeom prst="line">
            <a:avLst/>
          </a:prstGeom>
          <a:ln w="10160">
            <a:solidFill>
              <a:srgbClr val="BCD3F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3779" y="4141779"/>
            <a:ext cx="4856383" cy="0"/>
          </a:xfrm>
          <a:prstGeom prst="line">
            <a:avLst/>
          </a:prstGeom>
          <a:ln w="10160">
            <a:solidFill>
              <a:srgbClr val="BCD3F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3779" y="5104306"/>
            <a:ext cx="4856383" cy="0"/>
          </a:xfrm>
          <a:prstGeom prst="line">
            <a:avLst/>
          </a:prstGeom>
          <a:ln w="10160">
            <a:solidFill>
              <a:srgbClr val="BCD3F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4593" y="6044956"/>
            <a:ext cx="5570985" cy="466679"/>
          </a:xfrm>
          <a:prstGeom prst="roundRect">
            <a:avLst>
              <a:gd name="adj" fmla="val 4500"/>
            </a:avLst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ottom_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80" y="6073477"/>
            <a:ext cx="621318" cy="621318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1210449" y="6176210"/>
            <a:ext cx="4448038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 Codex 解释它理解的任务，再让它动手。</a:t>
            </a:r>
            <a:endParaRPr sz="17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256420" y="1195865"/>
            <a:ext cx="5694947" cy="546889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F05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ad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169" y="1279422"/>
            <a:ext cx="720607" cy="720607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6985607" y="1436497"/>
            <a:ext cx="1166698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F05A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模糊说法</a:t>
            </a:r>
            <a:endParaRPr sz="1950" b="1">
              <a:solidFill>
                <a:srgbClr val="F05A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75176" y="1808382"/>
            <a:ext cx="5279310" cy="568765"/>
          </a:xfrm>
          <a:prstGeom prst="roundRect">
            <a:avLst>
              <a:gd name="adj" fmla="val 3500"/>
            </a:avLst>
          </a:prstGeom>
          <a:solidFill>
            <a:srgbClr val="FFF5F0"/>
          </a:solidFill>
          <a:ln w="12700">
            <a:solidFill>
              <a:srgbClr val="F05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0181" y="2019846"/>
            <a:ext cx="4083444" cy="2479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帮我分析一下这些政务数据。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Down Arrow 44"/>
          <p:cNvSpPr/>
          <p:nvPr/>
        </p:nvSpPr>
        <p:spPr>
          <a:xfrm>
            <a:off x="8925243" y="2464650"/>
            <a:ext cx="204172" cy="204172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65798" y="2741741"/>
            <a:ext cx="5439731" cy="269799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ood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651" y="2767856"/>
            <a:ext cx="712228" cy="712228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6985607" y="2931330"/>
            <a:ext cx="1312535" cy="3062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>
                <a:solidFill>
                  <a:srgbClr val="0E9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可执行说法</a:t>
            </a:r>
            <a:endParaRPr sz="1950" b="1">
              <a:solidFill>
                <a:srgbClr val="0E99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467885" y="3281339"/>
            <a:ext cx="5250143" cy="1152114"/>
          </a:xfrm>
          <a:prstGeom prst="roundRect">
            <a:avLst>
              <a:gd name="adj" fmla="val 2500"/>
            </a:avLst>
          </a:prstGeom>
          <a:solidFill>
            <a:srgbClr val="F3FFF9"/>
          </a:solidFill>
          <a:ln w="1270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0181" y="3449052"/>
            <a:ext cx="4739712" cy="76564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请读取数据字典、指标口径和近 12 个月业务明细，</a:t>
            </a:r>
            <a:endParaRPr sz="164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输出数据质量、趋势、异常点、原因假设、</a:t>
            </a:r>
            <a:endParaRPr sz="164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治理建议和图表清单。</a:t>
            </a:r>
            <a:endParaRPr sz="164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467885" y="4579291"/>
            <a:ext cx="5250143" cy="758354"/>
          </a:xfrm>
          <a:prstGeom prst="roundRect">
            <a:avLst>
              <a:gd name="adj" fmla="val 2500"/>
            </a:avLst>
          </a:prstGeom>
          <a:solidFill>
            <a:srgbClr val="FFFDF4"/>
          </a:solidFill>
          <a:ln w="1397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warning_trian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3222" y="4659183"/>
            <a:ext cx="847679" cy="847679"/>
          </a:xfrm>
          <a:prstGeom prst="rect">
            <a:avLst/>
          </a:prstGeom>
          <a:effectLst/>
        </p:spPr>
      </p:pic>
      <p:sp>
        <p:nvSpPr>
          <p:cNvPr id="53" name="TextBox 52"/>
          <p:cNvSpPr txBox="1"/>
          <p:nvPr/>
        </p:nvSpPr>
        <p:spPr>
          <a:xfrm>
            <a:off x="7233530" y="4725129"/>
            <a:ext cx="4083444" cy="510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先列分析计划与字段映射，不要直接下结论；</a:t>
            </a:r>
            <a:endParaRPr sz="162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2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标出需人工校验的数据点。</a:t>
            </a:r>
            <a:endParaRPr sz="162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365798" y="5592861"/>
            <a:ext cx="5439731" cy="93335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ole_us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1028" y="5655688"/>
            <a:ext cx="466541" cy="466541"/>
          </a:xfrm>
          <a:prstGeom prst="rect">
            <a:avLst/>
          </a:prstGeom>
          <a:effectLst/>
        </p:spPr>
      </p:pic>
      <p:sp>
        <p:nvSpPr>
          <p:cNvPr id="56" name="TextBox 55"/>
          <p:cNvSpPr txBox="1"/>
          <p:nvPr/>
        </p:nvSpPr>
        <p:spPr>
          <a:xfrm>
            <a:off x="6621014" y="6212669"/>
            <a:ext cx="510430" cy="2187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15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7386660" y="5760574"/>
            <a:ext cx="0" cy="583349"/>
          </a:xfrm>
          <a:prstGeom prst="line">
            <a:avLst/>
          </a:prstGeom>
          <a:ln w="10160">
            <a:solidFill>
              <a:srgbClr val="0E99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 descr="role_fold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2407" y="5657871"/>
            <a:ext cx="462160" cy="462160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7700210" y="6212669"/>
            <a:ext cx="510430" cy="2187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endParaRPr sz="15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8465856" y="5760574"/>
            <a:ext cx="0" cy="583349"/>
          </a:xfrm>
          <a:prstGeom prst="line">
            <a:avLst/>
          </a:prstGeom>
          <a:ln w="10160">
            <a:solidFill>
              <a:srgbClr val="0E99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role_ch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3479" y="5657871"/>
            <a:ext cx="462160" cy="462160"/>
          </a:xfrm>
          <a:prstGeom prst="rect">
            <a:avLst/>
          </a:prstGeom>
          <a:effectLst/>
        </p:spPr>
      </p:pic>
      <p:sp>
        <p:nvSpPr>
          <p:cNvPr id="62" name="TextBox 61"/>
          <p:cNvSpPr txBox="1"/>
          <p:nvPr/>
        </p:nvSpPr>
        <p:spPr>
          <a:xfrm>
            <a:off x="8801282" y="6212669"/>
            <a:ext cx="510430" cy="2187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5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9566927" y="5760574"/>
            <a:ext cx="0" cy="583349"/>
          </a:xfrm>
          <a:prstGeom prst="line">
            <a:avLst/>
          </a:prstGeom>
          <a:ln w="10160">
            <a:solidFill>
              <a:srgbClr val="0E99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Picture 63" descr="role_shie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0799" y="5657871"/>
            <a:ext cx="462160" cy="462160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9858602" y="6212669"/>
            <a:ext cx="510430" cy="2187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</a:t>
            </a:r>
            <a:endParaRPr sz="15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10624248" y="5760574"/>
            <a:ext cx="0" cy="583349"/>
          </a:xfrm>
          <a:prstGeom prst="line">
            <a:avLst/>
          </a:prstGeom>
          <a:ln w="10160">
            <a:solidFill>
              <a:srgbClr val="0E99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role_clipboar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33846" y="5658181"/>
            <a:ext cx="460000" cy="46000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10901339" y="6212669"/>
            <a:ext cx="510430" cy="2187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sz="15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On-screen Show (4:3)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windx</cp:lastModifiedBy>
  <cp:revision>2</cp:revision>
  <dcterms:created xsi:type="dcterms:W3CDTF">2013-01-27T09:14:00Z</dcterms:created>
  <dcterms:modified xsi:type="dcterms:W3CDTF">2026-05-09T16:42:43Z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DB4ECF2FA079458E925E374FBB466B55_12</vt:lpwstr>
  </property>
  <property fmtid="{D5CDD505-2E9C-101B-9397-08002B2CF9AE}" pid="3" name="KSOProductBuildVer">
    <vt:lpwstr>2052-12.1.0.24655</vt:lpwstr>
  </property>
</Properties>
</file>